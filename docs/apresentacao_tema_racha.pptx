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Abertura: apresentar o tema em uma frase — um app para organizar o racha de futebol que o grupo ja joga toda semana. Dizer que a apresentacao cobre tema, objetivos, justificativa e publico-alvo.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 que e um racha para quem nunca jogou: partida recorrente, informal, sem federacao. O tema se organiza em tres frentes: o encontro (quem vai), a partida (como dividir os times) e o grupo (o que fica registrado).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o objetivo geral e depois passar rapido pelos quatro especificos — cada um responde a um problema que aparece no proximo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 o slide central: mostrar que o problema e real e recorrente. Vale contar um caso concreto do seu proprio racha para cada atrito — funciona melhor do que ler os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Deixar claro que sao dois perfis com pesos diferentes: o organizador e quem sente a dor, os jogadores usam pouco. Terminar dizendo o que fica de fora do escopo.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recapitular os quatro pontos em uma frase cada e dizer qual e o proximo passo do trabalho.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02775" y="-182880"/>
            <a:ext cx="10058" cy="10058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02775" y="-274320"/>
            <a:ext cx="10058" cy="7406640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02575" y="1828800"/>
            <a:ext cx="3200400" cy="3200400"/>
          </a:xfrm>
          <a:prstGeom prst="ellipse">
            <a:avLst/>
          </a:prstGeom>
          <a:noFill/>
          <a:ln w="12700">
            <a:solidFill>
              <a:srgbClr val="D3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80">
                <a:solidFill>
                  <a:srgbClr val="7C8A82"/>
                </a:solidFill>
                <a:latin typeface="Consolas"/>
              </a:rPr>
              <a:t>DESENVOLVIMENTO MOBILE  ·  FLUTTER  ·  APRESENTAÇÃO DE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78638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12211B"/>
                </a:solidFill>
                <a:latin typeface="Segoe UI Black"/>
              </a:rPr>
              <a:t>Racha</a:t>
            </a:r>
            <a:r>
              <a:rPr sz="8800" b="1">
                <a:solidFill>
                  <a:srgbClr val="D6491F"/>
                </a:solidFill>
                <a:latin typeface="Segoe UI Black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6574E"/>
                </a:solidFill>
                <a:latin typeface="Segoe UI"/>
              </a:rPr>
              <a:t>Um app para organizar o futebol amador que já acontece toda semana.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632764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3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spc="90">
                <a:solidFill>
                  <a:srgbClr val="46574E"/>
                </a:solidFill>
                <a:latin typeface="Consolas"/>
              </a:rPr>
              <a:t>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7748" y="4617720"/>
            <a:ext cx="1080820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3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spc="90">
                <a:solidFill>
                  <a:srgbClr val="46574E"/>
                </a:solidFill>
                <a:latin typeface="Consolas"/>
              </a:rPr>
              <a:t>OBJETIVOS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4873" y="4617720"/>
            <a:ext cx="1439265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3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spc="90">
                <a:solidFill>
                  <a:srgbClr val="46574E"/>
                </a:solidFill>
                <a:latin typeface="Consolas"/>
              </a:rPr>
              <a:t>JUSTIFICATIVA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0443" y="4617720"/>
            <a:ext cx="1349654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3D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spc="90">
                <a:solidFill>
                  <a:srgbClr val="46574E"/>
                </a:solidFill>
                <a:latin typeface="Consolas"/>
              </a:rPr>
              <a:t>PÚBLICO-ALVO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532120"/>
            <a:ext cx="10454335" cy="10058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424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Consolas"/>
              </a:rPr>
              <a:t>Gustavo Henrique Araujo Dias</a:t>
            </a:r>
            <a:r>
              <a:rPr sz="1100">
                <a:solidFill>
                  <a:srgbClr val="7C8A82"/>
                </a:solidFill>
                <a:latin typeface="Consolas"/>
              </a:rPr>
              <a:t>          Framework: Flutter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D6491F"/>
                </a:solidFill>
                <a:latin typeface="Consolas"/>
              </a:rPr>
              <a:t>01 · 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681228"/>
            <a:ext cx="8122615" cy="10058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6926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211B"/>
                </a:solidFill>
                <a:latin typeface="Segoe UI Semibold"/>
              </a:rPr>
              <a:t>Um aplicativo mobile para organizar rachas de futebol amador.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95728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211B"/>
                </a:solidFill>
                <a:latin typeface="Segoe UI"/>
              </a:rPr>
              <a:t>Racha</a:t>
            </a:r>
            <a:r>
              <a:rPr sz="1450" b="0">
                <a:solidFill>
                  <a:srgbClr val="46574E"/>
                </a:solidFill>
                <a:latin typeface="Segoe UI"/>
              </a:rPr>
              <a:t> — também chamado de pelada, fut ou baba — é a partida recorrente entre amigos, colegas de trabalho ou vizinhos. Não tem federação, não tem tabela, não tem súmula: tem um grupo de pessoas que combina um horário e joga.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88620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9525">
            <a:solidFill>
              <a:srgbClr val="E2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142232"/>
            <a:ext cx="27532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O ENCONTRO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2211B"/>
                </a:solidFill>
                <a:latin typeface="Segoe UI Semibold"/>
              </a:rPr>
              <a:t>Quem vai jogar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Segoe UI"/>
              </a:rPr>
              <a:t>Chamar o pessoal, confirmar presença e saber, antes da hora, se dá jogo.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388620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9525">
            <a:solidFill>
              <a:srgbClr val="E2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9218" y="4142232"/>
            <a:ext cx="27532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A PARTIDA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2211B"/>
                </a:solidFill>
                <a:latin typeface="Segoe UI Semibold"/>
              </a:rPr>
              <a:t>Como dividir os times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Segoe UI"/>
              </a:rPr>
              <a:t>Formar times equilibrados sem depender da negociação na beira do campo.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1116" y="388620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9525">
            <a:solidFill>
              <a:srgbClr val="E2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5436" y="4142232"/>
            <a:ext cx="275325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O GRUPO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2211B"/>
                </a:solidFill>
                <a:latin typeface="Segoe UI Semibold"/>
              </a:rPr>
              <a:t>O que fica registrado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Segoe UI"/>
              </a:rPr>
              <a:t>Guardar a memória do racha ao longo das semanas, em vez de perdê-la na conversa.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D6491F"/>
                </a:solidFill>
                <a:latin typeface="Consolas"/>
              </a:rPr>
              <a:t>02 · 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681228"/>
            <a:ext cx="8122615" cy="10058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509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211B"/>
                </a:solidFill>
                <a:latin typeface="Segoe UI Semibold"/>
              </a:rPr>
              <a:t>O que o projeto se propõe a fazer.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38528"/>
            <a:ext cx="9966960" cy="1371600"/>
          </a:xfrm>
          <a:prstGeom prst="roundRect">
            <a:avLst>
              <a:gd name="adj" fmla="val 3000"/>
            </a:avLst>
          </a:prstGeom>
          <a:solidFill>
            <a:srgbClr val="EB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38528"/>
            <a:ext cx="32004" cy="1371600"/>
          </a:xfrm>
          <a:prstGeom prst="rect">
            <a:avLst/>
          </a:prstGeom>
          <a:solidFill>
            <a:srgbClr val="D64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212848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OBJETIVO GERAL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2211B"/>
                </a:solidFill>
                <a:latin typeface="Segoe UI"/>
              </a:rPr>
              <a:t>Desenvolver um aplicativo mobile que centralize a organização de rachas de futebol amador — hoje espalhada entre conversas de grupo, listas soltas e a memória dos participantes.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491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671315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211B"/>
                </a:solidFill>
                <a:latin typeface="Segoe UI"/>
              </a:rPr>
              <a:t>Reunir a organização em um só lugar</a:t>
            </a:r>
            <a:r>
              <a:rPr sz="1450" b="0">
                <a:solidFill>
                  <a:srgbClr val="46574E"/>
                </a:solidFill>
                <a:latin typeface="Segoe UI"/>
              </a:rPr>
              <a:t>, do convite à confirmação de quem vai jogar.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178808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9826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491F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4366259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211B"/>
                </a:solidFill>
                <a:latin typeface="Segoe UI"/>
              </a:rPr>
              <a:t>Tornar a divisão dos times um processo objetivo</a:t>
            </a:r>
            <a:r>
              <a:rPr sz="1450" b="0">
                <a:solidFill>
                  <a:srgbClr val="46574E"/>
                </a:solidFill>
                <a:latin typeface="Segoe UI"/>
              </a:rPr>
              <a:t>, e não uma negociação a cada partida.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873752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93207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491F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5061203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211B"/>
                </a:solidFill>
                <a:latin typeface="Segoe UI"/>
              </a:rPr>
              <a:t>Preservar o histórico do grupo</a:t>
            </a:r>
            <a:r>
              <a:rPr sz="1450" b="0">
                <a:solidFill>
                  <a:srgbClr val="46574E"/>
                </a:solidFill>
                <a:latin typeface="Segoe UI"/>
              </a:rPr>
              <a:t>, para que o que acontece em campo não se perca a cada semana.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568696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788151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6491F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5756147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2211B"/>
                </a:solidFill>
                <a:latin typeface="Segoe UI"/>
              </a:rPr>
              <a:t>Reduzir o trabalho do organizador</a:t>
            </a:r>
            <a:r>
              <a:rPr sz="1450" b="0">
                <a:solidFill>
                  <a:srgbClr val="46574E"/>
                </a:solidFill>
                <a:latin typeface="Segoe UI"/>
              </a:rPr>
              <a:t>, que hoje concentra sozinho toda a logística.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D6491F"/>
                </a:solidFill>
                <a:latin typeface="Consolas"/>
              </a:rPr>
              <a:t>03 · JUSTIFICATIVA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681228"/>
            <a:ext cx="8122615" cy="10058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692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2211B"/>
                </a:solidFill>
                <a:latin typeface="Segoe UI Semibold"/>
              </a:rPr>
              <a:t>O racha é organizado com ferramentas que não foram feitas para isso.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574E"/>
                </a:solidFill>
                <a:latin typeface="Segoe UI"/>
              </a:rPr>
              <a:t>Quase todo grupo se organiza hoje por aplicativo de mensagem. Funciona — até certo ponto. O atrito aparece sempre nos mesmos lugares: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246120"/>
            <a:ext cx="5099151" cy="1371600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9525">
            <a:solidFill>
              <a:srgbClr val="E2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02152"/>
            <a:ext cx="455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ATRITO 01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2211B"/>
                </a:solidFill>
                <a:latin typeface="Segoe UI Semibold"/>
              </a:rPr>
              <a:t>A lista se perde na conversa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Segoe UI"/>
              </a:rPr>
              <a:t>A confirmação vira mais uma mensagem no meio de dezenas de outras, e alguém precisa contar quantos são na mão.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3246120"/>
            <a:ext cx="5099151" cy="1371600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9525">
            <a:solidFill>
              <a:srgbClr val="E2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8183" y="3502152"/>
            <a:ext cx="455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ATRITO 02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2211B"/>
                </a:solidFill>
                <a:latin typeface="Segoe UI Semibold"/>
              </a:rPr>
              <a:t>Times desequilibrados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Segoe UI"/>
              </a:rPr>
              <a:t>A divisão sai no par ou ímpar ou na escolha dos dois melhores — e o jogo acaba decidido antes de começar.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818888"/>
            <a:ext cx="5099151" cy="1371600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9525">
            <a:solidFill>
              <a:srgbClr val="E2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074920"/>
            <a:ext cx="455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ATRITO 03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2211B"/>
                </a:solidFill>
                <a:latin typeface="Segoe UI Semibold"/>
              </a:rPr>
              <a:t>Nada fica registrado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Segoe UI"/>
              </a:rPr>
              <a:t>Quem vem sempre, quem falta e como cada um joga existe apenas na percepção informal do grupo.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4818888"/>
            <a:ext cx="5099151" cy="1371600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9525">
            <a:solidFill>
              <a:srgbClr val="E2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183" y="5074920"/>
            <a:ext cx="455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850" b="0" spc="140">
                <a:solidFill>
                  <a:srgbClr val="D6491F"/>
                </a:solidFill>
                <a:latin typeface="Consolas"/>
              </a:rPr>
              <a:t>ATRITO 04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2211B"/>
                </a:solidFill>
                <a:latin typeface="Segoe UI Semibold"/>
              </a:rPr>
              <a:t>Sobra tudo para uma pessoa</a:t>
            </a:r>
          </a:p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6574E"/>
                </a:solidFill>
                <a:latin typeface="Segoe UI"/>
              </a:rPr>
              <a:t>Um único organizador repete o mesmo trabalho manual toda semana, e o racha depende dele para acontecer.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5332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C8A82"/>
                </a:solidFill>
                <a:latin typeface="Consolas"/>
              </a:rPr>
              <a:t>O futebol amador é uma prática muito difundida no Brasil e, ainda assim, raramente conta com uma ferramenta própria — o que justifica um aplicativo pensado especificamente para esse contexto.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D6491F"/>
                </a:solidFill>
                <a:latin typeface="Consolas"/>
              </a:rPr>
              <a:t>04 · PÚBLICO-ALVO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681228"/>
            <a:ext cx="8122615" cy="10058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509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211B"/>
                </a:solidFill>
                <a:latin typeface="Segoe UI Semibold"/>
              </a:rPr>
              <a:t>Quem joga bola com os mesmos amigos toda semana.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965960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D6491F"/>
                </a:solidFill>
                <a:latin typeface="Consolas"/>
              </a:rPr>
              <a:t>USUÁRIO PRIMÁRIO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07692"/>
            <a:ext cx="81226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11B"/>
                </a:solidFill>
                <a:latin typeface="Segoe UI"/>
              </a:rPr>
              <a:t>O organizador do racha</a:t>
            </a:r>
            <a:r>
              <a:rPr sz="1400" b="0">
                <a:solidFill>
                  <a:srgbClr val="46574E"/>
                </a:solidFill>
                <a:latin typeface="Segoe UI"/>
              </a:rPr>
              <a:t> — quem monta a lista, cobra confirmação e divide os times. É quem mais ganha tempo com o aplicativo.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52344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352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D6491F"/>
                </a:solidFill>
                <a:latin typeface="Consolas"/>
              </a:rPr>
              <a:t>USUÁRIO SECUNDÁRIO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94076"/>
            <a:ext cx="81226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11B"/>
                </a:solidFill>
                <a:latin typeface="Segoe UI"/>
              </a:rPr>
              <a:t>Os jogadores do grupo</a:t>
            </a:r>
            <a:r>
              <a:rPr sz="1400" b="0">
                <a:solidFill>
                  <a:srgbClr val="46574E"/>
                </a:solidFill>
                <a:latin typeface="Segoe UI"/>
              </a:rPr>
              <a:t> — participam confirmando presença e acompanhando o racha, com um uso mais leve e ocasional.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538728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21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D6491F"/>
                </a:solidFill>
                <a:latin typeface="Consolas"/>
              </a:rPr>
              <a:t>CONTEXTO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680460"/>
            <a:ext cx="81226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574E"/>
                </a:solidFill>
                <a:latin typeface="Segoe UI"/>
              </a:rPr>
              <a:t>Grupos </a:t>
            </a:r>
            <a:r>
              <a:rPr sz="1400" b="1">
                <a:solidFill>
                  <a:srgbClr val="12211B"/>
                </a:solidFill>
                <a:latin typeface="Segoe UI"/>
              </a:rPr>
              <a:t>recorrentes</a:t>
            </a:r>
            <a:r>
              <a:rPr sz="1400" b="0">
                <a:solidFill>
                  <a:srgbClr val="46574E"/>
                </a:solidFill>
                <a:latin typeface="Segoe UI"/>
              </a:rPr>
              <a:t>: amigos de infância, colegas de trabalho, turma da faculdade, vizinhança ou condomínio.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325112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079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D6491F"/>
                </a:solidFill>
                <a:latin typeface="Consolas"/>
              </a:rPr>
              <a:t>PERFIL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466844"/>
            <a:ext cx="81226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574E"/>
                </a:solidFill>
                <a:latin typeface="Segoe UI"/>
              </a:rPr>
              <a:t>Adultos e jovens adultos já acostumados a smartphone e a aplicativos de mensagem. </a:t>
            </a:r>
            <a:r>
              <a:rPr sz="1400" b="1">
                <a:solidFill>
                  <a:srgbClr val="12211B"/>
                </a:solidFill>
                <a:latin typeface="Segoe UI"/>
              </a:rPr>
              <a:t>Nenhum conhecimento técnico é exigido.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111496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943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D6491F"/>
                </a:solidFill>
                <a:latin typeface="Consolas"/>
              </a:rPr>
              <a:t>FORA DO ESCOPO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253228"/>
            <a:ext cx="81226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6574E"/>
                </a:solidFill>
                <a:latin typeface="Segoe UI"/>
              </a:rPr>
              <a:t>Competições oficiais, federações, arbitragem e gestão de clubes profissionais.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897880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60">
                <a:solidFill>
                  <a:srgbClr val="D6491F"/>
                </a:solidFill>
                <a:latin typeface="Consolas"/>
              </a:rPr>
              <a:t>EM RESUMO</a:t>
            </a:r>
          </a:p>
        </p:txBody>
      </p:sp>
      <p:sp>
        <p:nvSpPr>
          <p:cNvPr id="3" name="Rectangle 2"/>
          <p:cNvSpPr/>
          <p:nvPr/>
        </p:nvSpPr>
        <p:spPr>
          <a:xfrm>
            <a:off x="2560320" y="681228"/>
            <a:ext cx="8762695" cy="10058"/>
          </a:xfrm>
          <a:prstGeom prst="rect">
            <a:avLst/>
          </a:prstGeom>
          <a:solidFill>
            <a:srgbClr val="D3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95097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2211B"/>
                </a:solidFill>
                <a:latin typeface="Segoe UI Semibold"/>
              </a:rPr>
              <a:t>Um problema pequeno, semanal e muito comum.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77440"/>
            <a:ext cx="2394127" cy="25603"/>
          </a:xfrm>
          <a:prstGeom prst="rect">
            <a:avLst/>
          </a:prstGeom>
          <a:solidFill>
            <a:srgbClr val="D64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39412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spc="140">
                <a:solidFill>
                  <a:srgbClr val="7C8A82"/>
                </a:solidFill>
                <a:latin typeface="Consolas"/>
              </a:rPr>
              <a:t>TEMA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11B"/>
                </a:solidFill>
                <a:latin typeface="Segoe UI"/>
              </a:rPr>
              <a:t>Aplicativo mobile em Flutter para organizar rachas de futebol amador.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5415" y="2377440"/>
            <a:ext cx="2394127" cy="25603"/>
          </a:xfrm>
          <a:prstGeom prst="rect">
            <a:avLst/>
          </a:prstGeom>
          <a:solidFill>
            <a:srgbClr val="D64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5415" y="2606040"/>
            <a:ext cx="239412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spc="140">
                <a:solidFill>
                  <a:srgbClr val="7C8A82"/>
                </a:solidFill>
                <a:latin typeface="Consolas"/>
              </a:rPr>
              <a:t>OBJETIVO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11B"/>
                </a:solidFill>
                <a:latin typeface="Segoe UI"/>
              </a:rPr>
              <a:t>Centralizar a organização que hoje se espalha pelas conversas de grupo.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2151" y="2377440"/>
            <a:ext cx="2394127" cy="25603"/>
          </a:xfrm>
          <a:prstGeom prst="rect">
            <a:avLst/>
          </a:prstGeom>
          <a:solidFill>
            <a:srgbClr val="D64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2151" y="2606040"/>
            <a:ext cx="239412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spc="140">
                <a:solidFill>
                  <a:srgbClr val="7C8A82"/>
                </a:solidFill>
                <a:latin typeface="Consolas"/>
              </a:rPr>
              <a:t>JUSTIFICATIVA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11B"/>
                </a:solidFill>
                <a:latin typeface="Segoe UI"/>
              </a:rPr>
              <a:t>O racha é organizado por ferramentas que não foram feitas para isso.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8887" y="2377440"/>
            <a:ext cx="2394127" cy="25603"/>
          </a:xfrm>
          <a:prstGeom prst="rect">
            <a:avLst/>
          </a:prstGeom>
          <a:solidFill>
            <a:srgbClr val="D64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8887" y="2606040"/>
            <a:ext cx="239412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spc="140">
                <a:solidFill>
                  <a:srgbClr val="7C8A82"/>
                </a:solidFill>
                <a:latin typeface="Consolas"/>
              </a:rPr>
              <a:t>PÚBLICO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11B"/>
                </a:solidFill>
                <a:latin typeface="Segoe UI"/>
              </a:rPr>
              <a:t>Organizadores e jogadores de grupos recorrentes de futebol amador.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029200"/>
            <a:ext cx="10454335" cy="10058"/>
          </a:xfrm>
          <a:prstGeom prst="rect">
            <a:avLst/>
          </a:prstGeom>
          <a:solidFill>
            <a:srgbClr val="E2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5780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C8A82"/>
                </a:solidFill>
                <a:latin typeface="Consolas"/>
              </a:rPr>
              <a:t>Próxima etapa: levantamento de requisitos e definição das funcionalidades do aplicativo.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